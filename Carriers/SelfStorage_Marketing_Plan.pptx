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Commission Revenue ($)</c:v>
                </c:pt>
              </c:strCache>
            </c:strRef>
          </c:tx>
          <c:spPr>
            <a:solidFill>
              <a:srgbClr val="3D5A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  <c:pt idx="6">
                    <c:v>Month 7</c:v>
                  </c:pt>
                  <c:pt idx="7">
                    <c:v>Month 8</c:v>
                  </c:pt>
                  <c:pt idx="8">
                    <c:v>Month 9</c:v>
                  </c:pt>
                  <c:pt idx="9">
                    <c:v>Month 10</c:v>
                  </c:pt>
                  <c:pt idx="10">
                    <c:v>Month 11</c:v>
                  </c:pt>
                  <c:pt idx="11">
                    <c:v>Month 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2550</c:v>
                </c:pt>
                <c:pt idx="2">
                  <c:v>5100</c:v>
                </c:pt>
                <c:pt idx="3">
                  <c:v>7650</c:v>
                </c:pt>
                <c:pt idx="4">
                  <c:v>10200</c:v>
                </c:pt>
                <c:pt idx="5">
                  <c:v>12750</c:v>
                </c:pt>
                <c:pt idx="6">
                  <c:v>15300</c:v>
                </c:pt>
                <c:pt idx="7">
                  <c:v>17850</c:v>
                </c:pt>
                <c:pt idx="8">
                  <c:v>20400</c:v>
                </c:pt>
                <c:pt idx="9">
                  <c:v>22950</c:v>
                </c:pt>
                <c:pt idx="10">
                  <c:v>25500</c:v>
                </c:pt>
                <c:pt idx="11">
                  <c:v>28050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6400800"/>
          </a:xfrm>
          <a:prstGeom prst="rect">
            <a:avLst/>
          </a:prstGeom>
          <a:solidFill>
            <a:srgbClr val="3D5A99">
              <a:alpha val="30000"/>
            </a:srgbClr>
          </a:solidFill>
          <a:ln w="12700">
            <a:solidFill>
              <a:srgbClr val="3D5A9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761"/>
                </a:solidFill>
              </a:rPr>
              <a:t>RISK SOLUTIONS GROUP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</a:rPr>
              <a:t>SELF-STORAGE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E8A020"/>
                </a:solidFill>
              </a:rPr>
              <a:t>INDUSTRY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Commercial Insurance Marketing Plan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32004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Risk Solutions Group  |  Q2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CONFIDENTIAL —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28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A020"/>
                </a:solidFill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MARKET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OPPORTUNITY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Why Self-Storage?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2331720"/>
            <a:ext cx="246888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350008"/>
            <a:ext cx="24688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A020"/>
                </a:solidFill>
              </a:rPr>
              <a:t>$58B+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U.S. Industry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3200400"/>
            <a:ext cx="246888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A020"/>
                </a:solidFill>
              </a:rPr>
              <a:t>50K+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Facilities Nationwide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4069080"/>
            <a:ext cx="246888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087368"/>
            <a:ext cx="24688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A020"/>
                </a:solidFill>
              </a:rPr>
              <a:t>92%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Avg. Occupancy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365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 Booming, Underserved Niche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200400" y="914400"/>
            <a:ext cx="45720" cy="3291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960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Recession-Resistant Asset Class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12344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Self-storage performs well in both up and down economies — people store when they move, downsize, or experience life changes.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1920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Fragmented Ownership = Your Goldmine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2194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70%+ of facilities are independently owned, with owners who are NOT well-served by big national brokers. That's your lane.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880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Complex, Multi-Line Coverage Needs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154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Property, general liability, business income, inland marine for tenant goods — each facility needs a custom package.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840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Low Competition from Specialty Brokers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4114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Most P&amp;C generalists don't understand self-storage well. Positioning RSG as the specialist wins trust fast.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Risk Solutions Group  |  Self-Storage Marketing Plan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|  TARGET PROSPECT PROFILE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Know who you're calling before you dial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834640" cy="41148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IDEAL PROSPECT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1–10 facility owner/operator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Revenue: $300K – $5M/yr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Independent (non-REIT)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Currently with a generalist broker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Age 40–65, owner-operated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Located in growth markets (TX, FL, AZ, GA, NC)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83464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TRIGGER EVENTS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Renewal within 60–90 days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Recently acquired a new facility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Expansion / new construction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Claim history / rate increases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New lender requirement for coverage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Just entered self-storage business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PAIN POINTS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Paying too much for generic coverage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Broker doesn't understand the industry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Gaps in tenant goods coverage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Inadequate business income protection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No specialty market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</a:rPr>
              <a:t>Claims handled poorly / slowly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Risk Solutions Group  |  Self-Storage Marketing Plan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04  |  RSG SELF-STORAGE COVERAGE SUITE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A99"/>
                </a:solidFill>
              </a:rPr>
              <a:t>Everything they need — packaged as a specialty solution, not an afterthought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78408"/>
            <a:ext cx="8595360" cy="36576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206240" cy="1115568"/>
          </a:xfrm>
          <a:prstGeom prst="rect">
            <a:avLst/>
          </a:prstGeom>
          <a:solidFill>
            <a:srgbClr val="EEF2FB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115568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Commercial Property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66"/>
                </a:solidFill>
              </a:rPr>
              <a:t>Building, structures, fencing, gates, signage — replacement cost coverage with carriers who understand self-storage construction.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115568"/>
          </a:xfrm>
          <a:prstGeom prst="rect">
            <a:avLst/>
          </a:prstGeom>
          <a:solidFill>
            <a:srgbClr val="EEF2FB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43000"/>
            <a:ext cx="64008" cy="1115568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General Liability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66"/>
                </a:solidFill>
              </a:rPr>
              <a:t>Premises liability, slip &amp; fall, tenant injury. Key for facilities with high customer foot traffic and drive-up access.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4206240" cy="1115568"/>
          </a:xfrm>
          <a:prstGeom prst="rect">
            <a:avLst/>
          </a:prstGeom>
          <a:solidFill>
            <a:srgbClr val="FFF8EC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04872"/>
            <a:ext cx="64008" cy="1115568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Business Income / BI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770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66"/>
                </a:solidFill>
              </a:rPr>
              <a:t>Loss of rental income while facility is being repaired after a covered loss. Critical for cash-flow-dependent operators.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404872"/>
            <a:ext cx="4206240" cy="1115568"/>
          </a:xfrm>
          <a:prstGeom prst="rect">
            <a:avLst/>
          </a:prstGeom>
          <a:solidFill>
            <a:srgbClr val="FFF8EC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404872"/>
            <a:ext cx="64008" cy="1115568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Tenant Storage Legal Liability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770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66"/>
                </a:solidFill>
              </a:rPr>
              <a:t>Protects owner when tenant property is damaged due to operator negligence — distinct from tenant's own goods coverage.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666744"/>
            <a:ext cx="4206240" cy="1115568"/>
          </a:xfrm>
          <a:prstGeom prst="rect">
            <a:avLst/>
          </a:prstGeom>
          <a:solidFill>
            <a:srgbClr val="F0FFF4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66744"/>
            <a:ext cx="64008" cy="1115568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58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Inland Marine / Equipment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0325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66"/>
                </a:solidFill>
              </a:rPr>
              <a:t>Forklifts, golf carts, surveillance equipment, electronic gates. Often missed by generalist brokers.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666744"/>
            <a:ext cx="4206240" cy="1115568"/>
          </a:xfrm>
          <a:prstGeom prst="rect">
            <a:avLst/>
          </a:prstGeom>
          <a:solidFill>
            <a:srgbClr val="F0FFF4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666744"/>
            <a:ext cx="64008" cy="1115568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58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Umbrella / Excess Liability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0325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66"/>
                </a:solidFill>
              </a:rPr>
              <a:t>Adds critical limits above primary GL — increasingly required by lenders and needed in today's litigation environment.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Risk Solutions Group  |  Self-Storage Marketing Plan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OUTREACH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Multi-channel prospecting — maximum coverage with minimum wasted 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3749040"/>
          </a:xfrm>
          <a:prstGeom prst="rect">
            <a:avLst/>
          </a:prstGeom>
          <a:solidFill>
            <a:srgbClr val="18205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Cold Call + CRM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175564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Build self-storage target list from FMCSA, Google Maps, and local CoStar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Load into EspoCRM with renewal date if known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Call script: lead with specialty expertise, not price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Goal: 25 dials/day = 3-5 conversations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2011680" cy="3749040"/>
          </a:xfrm>
          <a:prstGeom prst="rect">
            <a:avLst/>
          </a:prstGeom>
          <a:solidFill>
            <a:srgbClr val="18205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051560"/>
            <a:ext cx="201168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71800" y="1051560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Direct Mail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600200"/>
            <a:ext cx="175564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Send lumpy mail to facility owners to stand out from email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Hook: 'Is your insurance as specialized as your business?'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Include a short case study or stat sheet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Follow up by phone within 5 business days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2011680" cy="3749040"/>
          </a:xfrm>
          <a:prstGeom prst="rect">
            <a:avLst/>
          </a:prstGeom>
          <a:solidFill>
            <a:srgbClr val="18205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51560"/>
            <a:ext cx="201168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6360" y="1051560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LinkedIn Outreach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600200"/>
            <a:ext cx="175564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Target: self-storage owner, operator, facility manager titles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Connect, wait 24 hrs, then send value-first message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Share industry content 2x/week to stay top-of-mind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Drive traffic to RSG self-storage specialty page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051560"/>
            <a:ext cx="2011680" cy="3749040"/>
          </a:xfrm>
          <a:prstGeom prst="rect">
            <a:avLst/>
          </a:prstGeom>
          <a:solidFill>
            <a:srgbClr val="18205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051560"/>
            <a:ext cx="201168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60920" y="1051560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Associations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600200"/>
            <a:ext cx="175564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Join SSA and state-level SSA chapters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Attend SSA annual conference as exhibitor or sponsor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Advertise in Inside Self-Storage magazine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Partner with self-storage management software firms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Risk Solutions Group  |  Self-Storage Marketing Plan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06  |  SALES PROCESS &amp;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A99"/>
                </a:solidFill>
              </a:rPr>
              <a:t>From cold lead to bound policy — 6 stages that close self-storage deals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325880" cy="164592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IDENTIFY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325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DDEE"/>
                </a:solidFill>
              </a:rPr>
              <a:t>Build list, enter in CRM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00200" y="1783080"/>
            <a:ext cx="137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005840"/>
            <a:ext cx="1325880" cy="1645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1051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OUTREACH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828800"/>
            <a:ext cx="1325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DDEE"/>
                </a:solidFill>
              </a:rPr>
              <a:t>Call / mail / LinkedIn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63240" y="1783080"/>
            <a:ext cx="137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05840"/>
            <a:ext cx="1325880" cy="1645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1051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QUALIFY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1828800"/>
            <a:ext cx="1325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DDEE"/>
                </a:solidFill>
              </a:rPr>
              <a:t>Renewal date + coverage gaps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26280" y="1783080"/>
            <a:ext cx="137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05840"/>
            <a:ext cx="1325880" cy="1645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051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QUOTE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828800"/>
            <a:ext cx="1325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DDEE"/>
                </a:solidFill>
              </a:rPr>
              <a:t>Gather exposures, go to market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89320" y="1783080"/>
            <a:ext cx="137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005840"/>
            <a:ext cx="1325880" cy="1645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051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PRESENT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1828800"/>
            <a:ext cx="1325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DDEE"/>
                </a:solidFill>
              </a:rPr>
              <a:t>Proposal + face-to-face or Zoom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52360" y="1783080"/>
            <a:ext cx="137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1005840"/>
            <a:ext cx="132588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89520" y="1051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8952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BIND &amp; RETAIN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89520" y="1828800"/>
            <a:ext cx="1325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DDEE"/>
                </a:solidFill>
              </a:rPr>
              <a:t>Signed app → service + X-date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2880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PERFORMANCE TARGETS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3218688"/>
            <a:ext cx="859536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337560"/>
            <a:ext cx="1325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99"/>
                </a:solidFill>
              </a:rPr>
              <a:t>500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74320" y="3904488"/>
            <a:ext cx="1325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Monthly Dials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37360" y="3337560"/>
            <a:ext cx="1325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73736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99"/>
                </a:solidFill>
              </a:rPr>
              <a:t>60+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737360" y="3904488"/>
            <a:ext cx="1325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Conversations / Mo.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0" y="3337560"/>
            <a:ext cx="1325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20040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99"/>
                </a:solidFill>
              </a:rPr>
              <a:t>15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3200400" y="3904488"/>
            <a:ext cx="1325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New Quotes / Mo.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3337560"/>
            <a:ext cx="1325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6344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99"/>
                </a:solidFill>
              </a:rPr>
              <a:t>25%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4663440" y="3904488"/>
            <a:ext cx="1325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Close Rate Target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26480" y="3337560"/>
            <a:ext cx="1325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12648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99"/>
                </a:solidFill>
              </a:rPr>
              <a:t>$8,500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6126480" y="3904488"/>
            <a:ext cx="1325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Avg. Premium / Account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589520" y="3337560"/>
            <a:ext cx="1325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58952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99"/>
                </a:solidFill>
              </a:rPr>
              <a:t>3–4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7589520" y="3904488"/>
            <a:ext cx="1325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New Accounts / Mo.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Risk Solutions Group  |  Self-Storage Marketing Plan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6400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0" y="274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07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720840" y="777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A99"/>
                </a:solidFill>
              </a:rPr>
              <a:t>MESSAGE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D5A99"/>
                </a:solidFill>
              </a:rPr>
              <a:t>POSITIONING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224028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691640"/>
            <a:ext cx="205740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"Most brokers sell you a policy. We protect your business."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12280" y="3108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020"/>
                </a:solidFill>
              </a:rPr>
              <a:t>— RSG Core Positioning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828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07  |  MESSAGING &amp; POSITIONING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"/>
            <a:ext cx="612648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777240"/>
            <a:ext cx="91440" cy="73152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7772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A99"/>
                </a:solidFill>
              </a:rPr>
              <a:t>COLD CALL OPENER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0332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33355"/>
                </a:solidFill>
              </a:rPr>
              <a:t>"Hi [Name], I specialize exclusively in insurance for self-storage operators. Most of my clients switched from generalist brokers and saved money while getting better coverage. Do you have 2 minutes?"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28800"/>
            <a:ext cx="91440" cy="73152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28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A99"/>
                </a:solidFill>
              </a:rPr>
              <a:t>EMAIL SUBJECT 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0848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33355"/>
                </a:solidFill>
              </a:rPr>
              <a:t>"Is your self-storage facility actually covered?" — or — "What your current broker doesn't know about self-storage insurance"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91440" cy="73152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803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A99"/>
                </a:solidFill>
              </a:rPr>
              <a:t>VALUE PROPOSITION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1363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33355"/>
                </a:solidFill>
              </a:rPr>
              <a:t>"RSG places coverage with carriers who specifically underwrite self-storage. That means better pricing, fewer exclusions, and an advocate who speaks your language at claim time."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91440" cy="73152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319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A99"/>
                </a:solidFill>
              </a:rPr>
              <a:t>OBJECTION: HAPPY WITH CURRENT BROKER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33355"/>
                </a:solidFill>
              </a:rPr>
              <a:t>"That's great! All I ask is 20 minutes to do a coverage comparison — most owners find at least one gap they didn't know about. If everything checks out, I'll tell you."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Risk Solutions Group  |  Self-Storage Marketing Plan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90-DAY ACTION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8A020"/>
                </a:solidFill>
              </a:rPr>
              <a:t>Revenue-first. No fluff.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834640" cy="3840480"/>
          </a:xfrm>
          <a:prstGeom prst="rect">
            <a:avLst/>
          </a:prstGeom>
          <a:solidFill>
            <a:srgbClr val="18205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2834640" cy="50292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DAYS 1–30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Build the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Compile list of 200+ self-storage facilities in target markets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Load all leads into EspoCRM with source, size, and x-date if known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Order direct mail piece (design + print) — 100 piece drop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Set LinkedIn to self-storage industry focus; connect with 50 operators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Join SSA and identify nearest chapter meeting 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Brief your team on self-storage coverage basics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834640" cy="3840480"/>
          </a:xfrm>
          <a:prstGeom prst="rect">
            <a:avLst/>
          </a:prstGeom>
          <a:solidFill>
            <a:srgbClr val="18205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83464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DAYS 31–60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Execute &amp; Prospect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Begin call campaign — 25 dials/day minimum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Mail drop follow-up calls — reference the piece they received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Attend SSA chapter meeting or webinar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Send LinkedIn connection messages — value content, not pitches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Aim for 10+ fact-finding appointments booked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Request quotes for 5+ live prospects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834640" cy="3840480"/>
          </a:xfrm>
          <a:prstGeom prst="rect">
            <a:avLst/>
          </a:prstGeom>
          <a:solidFill>
            <a:srgbClr val="18205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005840"/>
            <a:ext cx="2834640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DAYS 61–90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Close &amp; Expand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Present proposals to all quoted prospects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Target: 2–3 new self-storage accounts bound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Ask every new client for 1 referral to another operator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Follow up with all unclosed quotes — timing &amp; objections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Review pipeline, refine messaging, double down on what worked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</a:rPr>
              <a:t>Set goal for Days 91–180 based on 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Risk Solutions Group  |  Self-Storage Marketing Plan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09  |  REVENUE PROJECTION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A99"/>
                </a:solidFill>
              </a:rPr>
              <a:t>Conservative estimates — based on 3–4 new accounts/month at avg. $8,500 GWP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8412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977640"/>
            <a:ext cx="8412480" cy="36576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069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Assumptions: 15% avg. commission rate  |  $8,500 avg. GWP per account  |  3 new accounts/month starting Month 2  |  Year 1 Total Commission: ~$169K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943600" y="4434840"/>
            <a:ext cx="2834640" cy="548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4434840"/>
            <a:ext cx="2834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Year 1 Target: $169,000 in New Commissions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Risk Solutions Group  |  Self-Storage Marketing Plan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1371600"/>
            <a:ext cx="5029200" cy="4114800"/>
          </a:xfrm>
          <a:prstGeom prst="rect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THE NICHE IS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WAITING.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Self-storage owners are actively looking for a broker who gets them.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020"/>
                </a:solidFill>
              </a:rPr>
              <a:t>That broker is RSG.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32004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A020"/>
                </a:solidFill>
              </a:rPr>
              <a:t>IMMEDIATE NEXT STEPS: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ADCFC"/>
                </a:solidFill>
              </a:rPr>
              <a:t>Approve this plan and assign ownership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ADCFC"/>
                </a:solidFill>
              </a:rPr>
              <a:t>Build prospect list (target: 200 facilities in 2 weeks)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ADCFC"/>
                </a:solidFill>
              </a:rPr>
              <a:t>Load into CRM and begin Day 1 activities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ADCFC"/>
                </a:solidFill>
              </a:rPr>
              <a:t>Set a 30-day pipeline review meeting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246888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80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SOLUTIONS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2103120"/>
            <a:ext cx="19202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Lamar Coates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lamar@risk-solutionsgroup.com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Self-Storage Insurance Specialist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3611880"/>
            <a:ext cx="2468880" cy="548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risk-solutionsgroup.com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© 2026 Risk Solutions Group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Self-Storage Industry – Insurance Marketing Plan</dc:title>
  <dc:subject>PptxGenJS Presentation</dc:subject>
  <dc:creator>Risk Solutions Group</dc:creator>
  <cp:lastModifiedBy>Risk Solutions Group</cp:lastModifiedBy>
  <cp:revision>1</cp:revision>
  <dcterms:created xsi:type="dcterms:W3CDTF">2026-03-30T18:31:37Z</dcterms:created>
  <dcterms:modified xsi:type="dcterms:W3CDTF">2026-03-30T18:31:37Z</dcterms:modified>
</cp:coreProperties>
</file>